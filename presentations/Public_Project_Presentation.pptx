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8fce4ea9df34ff3" /><Relationship Type="http://schemas.openxmlformats.org/officeDocument/2006/relationships/extended-properties" Target="/docProps/app.xml" Id="Rb9c387379c974603" /><Relationship Type="http://schemas.openxmlformats.org/officeDocument/2006/relationships/officeDocument" Target="/ppt/presentation.xml" Id="R65f4c606c71b4bc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9d06f73ba2a458a"/>
  </p:sldMasterIdLst>
  <p:notesMasterIdLst>
    <p:notesMasterId xmlns:r="http://schemas.openxmlformats.org/officeDocument/2006/relationships" r:id="Rd5f3d38c8a9440c4"/>
  </p:notesMasterIdLst>
  <p:sldIdLst>
    <p:sldId xmlns:r="http://schemas.openxmlformats.org/officeDocument/2006/relationships" id="256" r:id="R3647228027be4690"/>
    <p:sldId xmlns:r="http://schemas.openxmlformats.org/officeDocument/2006/relationships" id="257" r:id="R1c43b9a64c1f44e8"/>
    <p:sldId xmlns:r="http://schemas.openxmlformats.org/officeDocument/2006/relationships" id="258" r:id="R3f9e641b322d4b7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e8d3e861a144008" /><Relationship Type="http://schemas.openxmlformats.org/officeDocument/2006/relationships/slideMaster" Target="/ppt/slideMasters/slideMaster1.xml" Id="R99d06f73ba2a458a" /><Relationship Type="http://schemas.openxmlformats.org/officeDocument/2006/relationships/notesMaster" Target="/ppt/notesMasters/notesMaster1.xml" Id="Rd5f3d38c8a9440c4" /><Relationship Type="http://schemas.openxmlformats.org/officeDocument/2006/relationships/presProps" Target="/ppt/presProps.xml" Id="R81a3aa775e224978" /><Relationship Type="http://schemas.openxmlformats.org/officeDocument/2006/relationships/tableStyles" Target="/ppt/tableStyles.xml" Id="R05f779c311d24d79" /><Relationship Type="http://schemas.openxmlformats.org/officeDocument/2006/relationships/slide" Target="/ppt/slides/slide1.xml" Id="R3647228027be4690" /><Relationship Type="http://schemas.openxmlformats.org/officeDocument/2006/relationships/slide" Target="/ppt/slides/slide2.xml" Id="R1c43b9a64c1f44e8" /><Relationship Type="http://schemas.openxmlformats.org/officeDocument/2006/relationships/slide" Target="/ppt/slides/slide3.xml" Id="R3f9e641b322d4b7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26d924c5e8943c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e80cd2ccab1474a" /><Relationship Type="http://schemas.openxmlformats.org/officeDocument/2006/relationships/notesMaster" Target="/ppt/notesMasters/notesMaster1.xml" Id="R8122af548e784e5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efb5ab2e6c341f7" /><Relationship Type="http://schemas.openxmlformats.org/officeDocument/2006/relationships/notesMaster" Target="/ppt/notesMasters/notesMaster1.xml" Id="R86b5d9a322174a6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37ad209107b4712" /><Relationship Type="http://schemas.openxmlformats.org/officeDocument/2006/relationships/notesMaster" Target="/ppt/notesMasters/notesMaster1.xml" Id="Rc9d024070f7c460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User-supplied academic dataset; public release contains aggregate outputs only. No clinical-effectiveness claim.</a:t>
            </a:r>
          </a:p>
          <a:p xmlns:a="http://schemas.openxmlformats.org/drawingml/2006/main">
            <a:r>
              <a:t>Ridge does not outperform the training-mean baseline. Flags are illustrative review rules, not diagnoses. The source licence, sampling and supplied score formula are unverified; patient-level records are not published.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User-supplied academic dataset; public release contains aggregate outputs only. No clinical-effectiveness claim.</a:t>
            </a:r>
          </a:p>
          <a:p xmlns:a="http://schemas.openxmlformats.org/drawingml/2006/main">
            <a:r>
              <a:t>Ridge does not outperform the training-mean baseline. Flags are illustrative review rules, not diagnoses. The source licence, sampling and supplied score formula are unverified; patient-level records are not published.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User-supplied academic dataset; public release contains aggregate outputs only. No clinical-effectiveness claim.</a:t>
            </a:r>
          </a:p>
          <a:p xmlns:a="http://schemas.openxmlformats.org/drawingml/2006/main">
            <a:r>
              <a:t>Ridge does not outperform the training-mean baseline. Flags are illustrative review rules, not diagnoses. The source licence, sampling and supplied score formula are unverified; patient-level records are not published.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e0eaafb710413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b7e90debbb461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7688a8d64d452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b68eebe7764f5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b0720289cc4ef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8f191a5d81487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80203D7-A53A-426B-89A2-52E95A500A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52706D4-3ADB-443B-B4B9-1AE6F5638A9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3FFDD54-22D3-4ECB-ABD6-C0E8DB4F2F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8459384-C296-44A1-A214-533B3C2F3A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9784760-12BE-454A-946B-4B5827AD28A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9966650-88AB-47B6-B6EA-9BA67A40D9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DAC6D25-D221-4F57-86D0-0E44B9C3F19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99CC76E-4104-48CC-8E21-CE697D4CBB8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ABBB63E-E3D2-41F9-BCEB-2678AB6E0E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0394DE8-912C-49E7-8ED8-3D52055239C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96a217eb25343ff" /><Relationship Type="http://schemas.openxmlformats.org/officeDocument/2006/relationships/slideLayout" Target="/ppt/slideLayouts/slideLayout1.xml" Id="Ra6ebdc80f6c94b77" /><Relationship Type="http://schemas.openxmlformats.org/officeDocument/2006/relationships/slideLayout" Target="/ppt/slideLayouts/slideLayout2.xml" Id="Rdbc2a4d830214334" /><Relationship Type="http://schemas.openxmlformats.org/officeDocument/2006/relationships/slideLayout" Target="/ppt/slideLayouts/slideLayout3.xml" Id="Rb65a05f014bd4b03" /><Relationship Type="http://schemas.openxmlformats.org/officeDocument/2006/relationships/slideLayout" Target="/ppt/slideLayouts/slideLayout4.xml" Id="Rf529f35159864141" /><Relationship Type="http://schemas.openxmlformats.org/officeDocument/2006/relationships/slideLayout" Target="/ppt/slideLayouts/slideLayout5.xml" Id="Rabfcb0e5f99c44d2" /><Relationship Type="http://schemas.openxmlformats.org/officeDocument/2006/relationships/slideLayout" Target="/ppt/slideLayouts/slideLayout6.xml" Id="Rb8b5a312b0a4473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ebdc80f6c94b77"/>
    <p:sldLayoutId xmlns:r="http://schemas.openxmlformats.org/officeDocument/2006/relationships" id="2147483650" r:id="Rdbc2a4d830214334"/>
    <p:sldLayoutId xmlns:r="http://schemas.openxmlformats.org/officeDocument/2006/relationships" id="2147483651" r:id="Rb65a05f014bd4b03"/>
    <p:sldLayoutId xmlns:r="http://schemas.openxmlformats.org/officeDocument/2006/relationships" id="2147483652" r:id="Rf529f35159864141"/>
    <p:sldLayoutId xmlns:r="http://schemas.openxmlformats.org/officeDocument/2006/relationships" id="2147483653" r:id="Rabfcb0e5f99c44d2"/>
    <p:sldLayoutId xmlns:r="http://schemas.openxmlformats.org/officeDocument/2006/relationships" id="2147483654" r:id="Rb8b5a312b0a4473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97cb4c0a314976" /><Relationship Type="http://schemas.openxmlformats.org/officeDocument/2006/relationships/notesSlide" Target="/ppt/notesSlides/notesSlide1.xml" Id="Rf9011c2402f94af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898016c137401c" /><Relationship Type="http://schemas.openxmlformats.org/officeDocument/2006/relationships/chart" Target="/ppt/slides/charts/chart1.xml" Id="R543eabd28c5c469f" /><Relationship Type="http://schemas.openxmlformats.org/officeDocument/2006/relationships/notesSlide" Target="/ppt/notesSlides/notesSlide2.xml" Id="Rf0533d2c103a485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b5ba46bbe64ddb" /><Relationship Type="http://schemas.openxmlformats.org/officeDocument/2006/relationships/chart" Target="/ppt/slides/charts/chart2.xml" Id="R9888a3a4fad2457d" /><Relationship Type="http://schemas.openxmlformats.org/officeDocument/2006/relationships/notesSlide" Target="/ppt/notesSlides/notesSlide3.xml" Id="R846b458e3c664dc7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Records</c:v>
          </c:tx>
          <c:spPr>
            <a:solidFill xmlns:a="http://schemas.openxmlformats.org/drawingml/2006/main">
              <a:srgbClr val="147D92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Priority review</c:v>
                </c:pt>
                <c:pt idx="1">
                  <c:v>Routine support</c:v>
                </c:pt>
                <c:pt idx="2">
                  <c:v>No rule flag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8</c:v>
                </c:pt>
                <c:pt idx="1">
                  <c:v>33</c:v>
                </c:pt>
                <c:pt idx="2">
                  <c:v>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5ED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MAE (score points)</c:v>
          </c:tx>
          <c:spPr>
            <a:solidFill xmlns:a="http://schemas.openxmlformats.org/drawingml/2006/main">
              <a:srgbClr val="147D92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Training-mean baseline</c:v>
                </c:pt>
                <c:pt idx="1">
                  <c:v>Ridge alpha 100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13.3</c:v>
                </c:pt>
                <c:pt idx="1">
                  <c:v>13.99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5ED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143537-CF89-4096-9563-25DF6D85E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6700"/>
            <a:ext cx="1123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47D92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147D92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147D92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147D92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147D92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147D92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147D92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147D92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147D92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147D9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47D9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47D92"/>
                </a:solidFill>
                <a:latin typeface="Arial"/>
                <a:ea typeface="Arial"/>
                <a:cs typeface="Arial"/>
              </a:rPr>
              <a:t>MING ZHAO / DATA &amp; VISUALISATION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549B52-F3E1-414C-9FE2-FABA360D3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04875"/>
            <a:ext cx="11239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>
              <a:defRPr sz="30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>
              <a:defRPr sz="30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>
              <a:defRPr sz="30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>
              <a:defRPr sz="30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>
              <a:defRPr sz="30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>
              <a:defRPr sz="30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>
              <a:defRPr sz="30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>
              <a:defRPr sz="30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>
              <a:defRPr sz="30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SmartCare aggregate analytics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FD306A-025D-49B6-A8AC-420AE079D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38325"/>
            <a:ext cx="1123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617385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17385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17385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17385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17385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17385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17385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17385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17385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173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1738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17385"/>
                </a:solidFill>
                <a:latin typeface="Arial"/>
                <a:ea typeface="Arial"/>
                <a:cs typeface="Arial"/>
              </a:rPr>
              <a:t>Transparent review rules and a baseline-led model check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AD9C52-342C-4242-B9EB-EC3FB96CF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353175"/>
            <a:ext cx="1123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17385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17385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17385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17385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17385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17385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17385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17385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17385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173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173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385"/>
                </a:solidFill>
                <a:latin typeface="Arial"/>
                <a:ea typeface="Arial"/>
                <a:cs typeface="Arial"/>
              </a:rPr>
              <a:t>Academic project | Aggregate public edition | No reports or personal identifiers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E54A96-4828-4E5A-A4BF-1FA430069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28950"/>
            <a:ext cx="352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825" b="1">
                <a:solidFill>
                  <a:srgbClr val="147D92"/>
                </a:solidFill>
                <a:latin typeface="Arial"/>
                <a:ea typeface="Arial"/>
                <a:cs typeface="Arial"/>
              </a:defRPr>
            </a:defPPr>
            <a:lvl1pPr>
              <a:defRPr sz="3825" b="1">
                <a:solidFill>
                  <a:srgbClr val="147D92"/>
                </a:solidFill>
                <a:latin typeface="Arial"/>
                <a:ea typeface="Arial"/>
                <a:cs typeface="Arial"/>
              </a:defRPr>
            </a:lvl1pPr>
            <a:lvl2pPr>
              <a:defRPr sz="3825" b="1">
                <a:solidFill>
                  <a:srgbClr val="147D92"/>
                </a:solidFill>
                <a:latin typeface="Arial"/>
                <a:ea typeface="Arial"/>
                <a:cs typeface="Arial"/>
              </a:defRPr>
            </a:lvl2pPr>
            <a:lvl3pPr>
              <a:defRPr sz="3825" b="1">
                <a:solidFill>
                  <a:srgbClr val="147D92"/>
                </a:solidFill>
                <a:latin typeface="Arial"/>
                <a:ea typeface="Arial"/>
                <a:cs typeface="Arial"/>
              </a:defRPr>
            </a:lvl3pPr>
            <a:lvl4pPr>
              <a:defRPr sz="3825" b="1">
                <a:solidFill>
                  <a:srgbClr val="147D92"/>
                </a:solidFill>
                <a:latin typeface="Arial"/>
                <a:ea typeface="Arial"/>
                <a:cs typeface="Arial"/>
              </a:defRPr>
            </a:lvl4pPr>
            <a:lvl5pPr>
              <a:defRPr sz="3825" b="1">
                <a:solidFill>
                  <a:srgbClr val="147D92"/>
                </a:solidFill>
                <a:latin typeface="Arial"/>
                <a:ea typeface="Arial"/>
                <a:cs typeface="Arial"/>
              </a:defRPr>
            </a:lvl5pPr>
            <a:lvl6pPr>
              <a:defRPr sz="3825" b="1">
                <a:solidFill>
                  <a:srgbClr val="147D92"/>
                </a:solidFill>
                <a:latin typeface="Arial"/>
                <a:ea typeface="Arial"/>
                <a:cs typeface="Arial"/>
              </a:defRPr>
            </a:lvl6pPr>
            <a:lvl7pPr>
              <a:defRPr sz="3825" b="1">
                <a:solidFill>
                  <a:srgbClr val="147D92"/>
                </a:solidFill>
                <a:latin typeface="Arial"/>
                <a:ea typeface="Arial"/>
                <a:cs typeface="Arial"/>
              </a:defRPr>
            </a:lvl7pPr>
            <a:lvl8pPr>
              <a:defRPr sz="3825" b="1">
                <a:solidFill>
                  <a:srgbClr val="147D92"/>
                </a:solidFill>
                <a:latin typeface="Arial"/>
                <a:ea typeface="Arial"/>
                <a:cs typeface="Arial"/>
              </a:defRPr>
            </a:lvl8pPr>
            <a:lvl9pPr>
              <a:defRPr sz="3825" b="1">
                <a:solidFill>
                  <a:srgbClr val="147D9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825" b="1">
                <a:solidFill>
                  <a:srgbClr val="147D92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147D92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E00D88-D940-455B-8244-C84191405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00500"/>
            <a:ext cx="3524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source summaries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9F8B8B-8565-4B6C-A518-9613DB548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28950"/>
            <a:ext cx="352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825" b="1">
                <a:solidFill>
                  <a:srgbClr val="147D92"/>
                </a:solidFill>
                <a:latin typeface="Arial"/>
                <a:ea typeface="Arial"/>
                <a:cs typeface="Arial"/>
              </a:defRPr>
            </a:defPPr>
            <a:lvl1pPr>
              <a:defRPr sz="3825" b="1">
                <a:solidFill>
                  <a:srgbClr val="147D92"/>
                </a:solidFill>
                <a:latin typeface="Arial"/>
                <a:ea typeface="Arial"/>
                <a:cs typeface="Arial"/>
              </a:defRPr>
            </a:lvl1pPr>
            <a:lvl2pPr>
              <a:defRPr sz="3825" b="1">
                <a:solidFill>
                  <a:srgbClr val="147D92"/>
                </a:solidFill>
                <a:latin typeface="Arial"/>
                <a:ea typeface="Arial"/>
                <a:cs typeface="Arial"/>
              </a:defRPr>
            </a:lvl2pPr>
            <a:lvl3pPr>
              <a:defRPr sz="3825" b="1">
                <a:solidFill>
                  <a:srgbClr val="147D92"/>
                </a:solidFill>
                <a:latin typeface="Arial"/>
                <a:ea typeface="Arial"/>
                <a:cs typeface="Arial"/>
              </a:defRPr>
            </a:lvl3pPr>
            <a:lvl4pPr>
              <a:defRPr sz="3825" b="1">
                <a:solidFill>
                  <a:srgbClr val="147D92"/>
                </a:solidFill>
                <a:latin typeface="Arial"/>
                <a:ea typeface="Arial"/>
                <a:cs typeface="Arial"/>
              </a:defRPr>
            </a:lvl4pPr>
            <a:lvl5pPr>
              <a:defRPr sz="3825" b="1">
                <a:solidFill>
                  <a:srgbClr val="147D92"/>
                </a:solidFill>
                <a:latin typeface="Arial"/>
                <a:ea typeface="Arial"/>
                <a:cs typeface="Arial"/>
              </a:defRPr>
            </a:lvl5pPr>
            <a:lvl6pPr>
              <a:defRPr sz="3825" b="1">
                <a:solidFill>
                  <a:srgbClr val="147D92"/>
                </a:solidFill>
                <a:latin typeface="Arial"/>
                <a:ea typeface="Arial"/>
                <a:cs typeface="Arial"/>
              </a:defRPr>
            </a:lvl6pPr>
            <a:lvl7pPr>
              <a:defRPr sz="3825" b="1">
                <a:solidFill>
                  <a:srgbClr val="147D92"/>
                </a:solidFill>
                <a:latin typeface="Arial"/>
                <a:ea typeface="Arial"/>
                <a:cs typeface="Arial"/>
              </a:defRPr>
            </a:lvl7pPr>
            <a:lvl8pPr>
              <a:defRPr sz="3825" b="1">
                <a:solidFill>
                  <a:srgbClr val="147D92"/>
                </a:solidFill>
                <a:latin typeface="Arial"/>
                <a:ea typeface="Arial"/>
                <a:cs typeface="Arial"/>
              </a:defRPr>
            </a:lvl8pPr>
            <a:lvl9pPr>
              <a:defRPr sz="3825" b="1">
                <a:solidFill>
                  <a:srgbClr val="147D9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825" b="1">
                <a:solidFill>
                  <a:srgbClr val="147D92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147D92"/>
                </a:solidFill>
                <a:latin typeface="Arial"/>
                <a:ea typeface="Arial"/>
                <a:cs typeface="Arial"/>
              </a:rPr>
              <a:t>40 / 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CB5C54-02F0-4951-BCF3-A581C96DB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000500"/>
            <a:ext cx="3524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training / testing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A272AB-FF91-4678-A2B6-7A2CE2D7B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28950"/>
            <a:ext cx="352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825" b="1">
                <a:solidFill>
                  <a:srgbClr val="147D92"/>
                </a:solidFill>
                <a:latin typeface="Arial"/>
                <a:ea typeface="Arial"/>
                <a:cs typeface="Arial"/>
              </a:defRPr>
            </a:defPPr>
            <a:lvl1pPr>
              <a:defRPr sz="3825" b="1">
                <a:solidFill>
                  <a:srgbClr val="147D92"/>
                </a:solidFill>
                <a:latin typeface="Arial"/>
                <a:ea typeface="Arial"/>
                <a:cs typeface="Arial"/>
              </a:defRPr>
            </a:lvl1pPr>
            <a:lvl2pPr>
              <a:defRPr sz="3825" b="1">
                <a:solidFill>
                  <a:srgbClr val="147D92"/>
                </a:solidFill>
                <a:latin typeface="Arial"/>
                <a:ea typeface="Arial"/>
                <a:cs typeface="Arial"/>
              </a:defRPr>
            </a:lvl2pPr>
            <a:lvl3pPr>
              <a:defRPr sz="3825" b="1">
                <a:solidFill>
                  <a:srgbClr val="147D92"/>
                </a:solidFill>
                <a:latin typeface="Arial"/>
                <a:ea typeface="Arial"/>
                <a:cs typeface="Arial"/>
              </a:defRPr>
            </a:lvl3pPr>
            <a:lvl4pPr>
              <a:defRPr sz="3825" b="1">
                <a:solidFill>
                  <a:srgbClr val="147D92"/>
                </a:solidFill>
                <a:latin typeface="Arial"/>
                <a:ea typeface="Arial"/>
                <a:cs typeface="Arial"/>
              </a:defRPr>
            </a:lvl4pPr>
            <a:lvl5pPr>
              <a:defRPr sz="3825" b="1">
                <a:solidFill>
                  <a:srgbClr val="147D92"/>
                </a:solidFill>
                <a:latin typeface="Arial"/>
                <a:ea typeface="Arial"/>
                <a:cs typeface="Arial"/>
              </a:defRPr>
            </a:lvl5pPr>
            <a:lvl6pPr>
              <a:defRPr sz="3825" b="1">
                <a:solidFill>
                  <a:srgbClr val="147D92"/>
                </a:solidFill>
                <a:latin typeface="Arial"/>
                <a:ea typeface="Arial"/>
                <a:cs typeface="Arial"/>
              </a:defRPr>
            </a:lvl6pPr>
            <a:lvl7pPr>
              <a:defRPr sz="3825" b="1">
                <a:solidFill>
                  <a:srgbClr val="147D92"/>
                </a:solidFill>
                <a:latin typeface="Arial"/>
                <a:ea typeface="Arial"/>
                <a:cs typeface="Arial"/>
              </a:defRPr>
            </a:lvl7pPr>
            <a:lvl8pPr>
              <a:defRPr sz="3825" b="1">
                <a:solidFill>
                  <a:srgbClr val="147D92"/>
                </a:solidFill>
                <a:latin typeface="Arial"/>
                <a:ea typeface="Arial"/>
                <a:cs typeface="Arial"/>
              </a:defRPr>
            </a:lvl8pPr>
            <a:lvl9pPr>
              <a:defRPr sz="3825" b="1">
                <a:solidFill>
                  <a:srgbClr val="147D9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825" b="1">
                <a:solidFill>
                  <a:srgbClr val="147D92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147D9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46A36F-D921-4C94-AAC6-0D674711C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00500"/>
            <a:ext cx="3524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missing cells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2A106B-D6D0-43F2-B47F-922A5DD78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7687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SQL / Python / Power BI / inspectable aggregate data</a:t>
            </a:r>
          </a:p>
        </p:txBody>
      </p:sp>
    </p:spTree>
    <p:extLst>
      <p:ext uri="{BB962C8B-B14F-4D97-AF65-F5344CB8AC3E}">
        <p14:creationId xmlns:p14="http://schemas.microsoft.com/office/powerpoint/2010/main" val="21313051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44B47A-1836-461B-8D4F-6C301131E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6700"/>
            <a:ext cx="1123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47D92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147D92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147D92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147D92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147D92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147D92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147D92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147D92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147D92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147D9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47D9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47D92"/>
                </a:solidFill>
                <a:latin typeface="Arial"/>
                <a:ea typeface="Arial"/>
                <a:cs typeface="Arial"/>
              </a:rPr>
              <a:t>MING ZHAO / DATA &amp; VISUALISATION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8D834D-573A-4438-882F-55DAF311C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04875"/>
            <a:ext cx="11239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>
              <a:defRPr sz="30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>
              <a:defRPr sz="30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>
              <a:defRPr sz="30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>
              <a:defRPr sz="30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>
              <a:defRPr sz="30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>
              <a:defRPr sz="30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>
              <a:defRPr sz="30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>
              <a:defRPr sz="30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>
              <a:defRPr sz="30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Illustrative human-review allocation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18B969-E145-4027-B468-B9CF77206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38325"/>
            <a:ext cx="1123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617385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17385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17385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17385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17385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17385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17385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17385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17385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173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1738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17385"/>
                </a:solidFill>
                <a:latin typeface="Arial"/>
                <a:ea typeface="Arial"/>
                <a:cs typeface="Arial"/>
              </a:rPr>
              <a:t>Source counts and analytical populations are explicit.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E6CD4C-7648-49D0-ACE3-5E2A42882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353175"/>
            <a:ext cx="1123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17385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17385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17385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17385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17385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17385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17385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17385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17385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173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173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385"/>
                </a:solidFill>
                <a:latin typeface="Arial"/>
                <a:ea typeface="Arial"/>
                <a:cs typeface="Arial"/>
              </a:rPr>
              <a:t>Academic project | Aggregate public edition | No reports or personal identifiers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C50CA98F-D3AD-4D8F-B9B3-2EB9FC105257}"/>
              </a:ext>
            </a:extLst>
          </p:cNvPr>
          <p:cNvGraphicFramePr/>
          <p:nvPr/>
        </p:nvGraphicFramePr>
        <p:xfrm>
          <a:off xmlns:a="http://schemas.openxmlformats.org/drawingml/2006/main" x="666750" y="2667000"/>
          <a:ext xmlns:a="http://schemas.openxmlformats.org/drawingml/2006/main" cx="10668000" cy="3095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43eabd28c5c469f"/>
          </a:graphicData>
        </a:graphic>
      </p:graphicFrame>
    </p:spTree>
    <p:extLst>
      <p:ext uri="{BB962C8B-B14F-4D97-AF65-F5344CB8AC3E}">
        <p14:creationId xmlns:p14="http://schemas.microsoft.com/office/powerpoint/2010/main" val="11848398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3160E6-97DC-4E7E-90E6-D42B5B5D0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6700"/>
            <a:ext cx="1123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47D92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147D92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147D92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147D92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147D92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147D92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147D92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147D92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147D92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147D9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47D9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47D92"/>
                </a:solidFill>
                <a:latin typeface="Arial"/>
                <a:ea typeface="Arial"/>
                <a:cs typeface="Arial"/>
              </a:rPr>
              <a:t>MING ZHAO / DATA &amp; VISUALISATION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A94C59-5387-45B3-BDA1-1085DCFBA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04875"/>
            <a:ext cx="11239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>
              <a:defRPr sz="30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>
              <a:defRPr sz="30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>
              <a:defRPr sz="30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>
              <a:defRPr sz="30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>
              <a:defRPr sz="30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>
              <a:defRPr sz="30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>
              <a:defRPr sz="30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>
              <a:defRPr sz="30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>
              <a:defRPr sz="30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Independent test MAE: lower is better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BEBA73-E4C4-4363-BAFD-0BFF4C9A8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38325"/>
            <a:ext cx="1123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617385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17385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17385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17385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17385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17385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17385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17385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17385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173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1738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17385"/>
                </a:solidFill>
                <a:latin typeface="Arial"/>
                <a:ea typeface="Arial"/>
                <a:cs typeface="Arial"/>
              </a:rPr>
              <a:t>Hold-out findings are reported with their operating limitations.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036E39-7303-4074-AA57-41473D8CE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353175"/>
            <a:ext cx="1123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17385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17385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17385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17385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17385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17385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17385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17385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17385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173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173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385"/>
                </a:solidFill>
                <a:latin typeface="Arial"/>
                <a:ea typeface="Arial"/>
                <a:cs typeface="Arial"/>
              </a:rPr>
              <a:t>Academic project | Aggregate public edition | No reports or personal identifiers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D94F3277-D36F-461C-AD4E-C5A3CDB4327A}"/>
              </a:ext>
            </a:extLst>
          </p:cNvPr>
          <p:cNvGraphicFramePr/>
          <p:nvPr/>
        </p:nvGraphicFramePr>
        <p:xfrm>
          <a:off xmlns:a="http://schemas.openxmlformats.org/drawingml/2006/main" x="666750" y="2667000"/>
          <a:ext xmlns:a="http://schemas.openxmlformats.org/drawingml/2006/main" cx="10668000" cy="3095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888a3a4fad2457d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58EA62-EB51-49DD-8B32-7D554F828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102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17385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17385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17385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17385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17385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17385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17385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17385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17385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173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173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17385"/>
                </a:solidFill>
                <a:latin typeface="Arial"/>
                <a:ea typeface="Arial"/>
                <a:cs typeface="Arial"/>
              </a:rPr>
              <a:t>Ridge does not outperform the training-mean baseline. Flags are illustrative review rules, not diagnoses. The source licence, sampling and supplied score formula are unverified; patient-level records are not published.</a:t>
            </a:r>
          </a:p>
        </p:txBody>
      </p:sp>
    </p:spTree>
    <p:extLst>
      <p:ext uri="{BB962C8B-B14F-4D97-AF65-F5344CB8AC3E}">
        <p14:creationId xmlns:p14="http://schemas.microsoft.com/office/powerpoint/2010/main" val="9001172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2026-10-28T11:24:58.3270000Z</dcterms:created>
  <dcterms:modified xsi:type="dcterms:W3CDTF">2026-10-28T11:24:58.3270000Z</dcterms:modified>
</coreProperties>
</file>